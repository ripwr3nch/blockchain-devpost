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2" r:id="rId6"/>
    <p:sldId id="257" r:id="rId7"/>
    <p:sldId id="264" r:id="rId8"/>
    <p:sldId id="265" r:id="rId9"/>
  </p:sldIdLst>
  <p:sldSz cx="18288000" cy="10287000"/>
  <p:notesSz cx="6858000" cy="9144000"/>
  <p:embeddedFontLst>
    <p:embeddedFont>
      <p:font typeface="Garet Bold" panose="020B0604020202020204" charset="0"/>
      <p:regular r:id="rId11"/>
    </p:embeddedFont>
    <p:embeddedFont>
      <p:font typeface="Open Sans" panose="020B0606030504020204" pitchFamily="34" charset="0"/>
      <p:regular r:id="rId12"/>
    </p:embeddedFont>
    <p:embeddedFont>
      <p:font typeface="Open San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9" d="100"/>
          <a:sy n="39" d="100"/>
        </p:scale>
        <p:origin x="580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1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39230" y="7168466"/>
            <a:ext cx="6166339" cy="1102233"/>
          </a:xfrm>
          <a:custGeom>
            <a:avLst/>
            <a:gdLst/>
            <a:ahLst/>
            <a:cxnLst/>
            <a:rect l="l" t="t" r="r" b="b"/>
            <a:pathLst>
              <a:path w="6166339" h="1102233">
                <a:moveTo>
                  <a:pt x="0" y="0"/>
                </a:moveTo>
                <a:lnTo>
                  <a:pt x="6166340" y="0"/>
                </a:lnTo>
                <a:lnTo>
                  <a:pt x="6166340" y="1102233"/>
                </a:lnTo>
                <a:lnTo>
                  <a:pt x="0" y="11022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 descr="two gold bitcoin coins on a white background"/>
          <p:cNvSpPr/>
          <p:nvPr/>
        </p:nvSpPr>
        <p:spPr>
          <a:xfrm>
            <a:off x="1028700" y="1425407"/>
            <a:ext cx="6806461" cy="6755939"/>
          </a:xfrm>
          <a:prstGeom prst="roundRect">
            <a:avLst>
              <a:gd name="adj" fmla="val 6000"/>
            </a:avLst>
          </a:pr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7990" y="1864340"/>
            <a:ext cx="2587375" cy="2122194"/>
            <a:chOff x="0" y="0"/>
            <a:chExt cx="3449833" cy="2829592"/>
          </a:xfrm>
        </p:grpSpPr>
        <p:sp>
          <p:nvSpPr>
            <p:cNvPr id="5" name="Freeform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3449932" cy="2829670"/>
            </a:xfrm>
            <a:custGeom>
              <a:avLst/>
              <a:gdLst/>
              <a:ahLst/>
              <a:cxnLst/>
              <a:rect l="l" t="t" r="r" b="b"/>
              <a:pathLst>
                <a:path w="3449932" h="2829670">
                  <a:moveTo>
                    <a:pt x="0" y="245926"/>
                  </a:moveTo>
                  <a:cubicBezTo>
                    <a:pt x="0" y="110142"/>
                    <a:pt x="138197" y="0"/>
                    <a:pt x="308566" y="0"/>
                  </a:cubicBezTo>
                  <a:lnTo>
                    <a:pt x="3141380" y="0"/>
                  </a:lnTo>
                  <a:cubicBezTo>
                    <a:pt x="3311750" y="0"/>
                    <a:pt x="3449932" y="110142"/>
                    <a:pt x="3449932" y="245926"/>
                  </a:cubicBezTo>
                  <a:lnTo>
                    <a:pt x="3449932" y="2583738"/>
                  </a:lnTo>
                  <a:cubicBezTo>
                    <a:pt x="3449932" y="2719521"/>
                    <a:pt x="3311750" y="2829670"/>
                    <a:pt x="3141380" y="2829670"/>
                  </a:cubicBezTo>
                  <a:lnTo>
                    <a:pt x="308566" y="2829670"/>
                  </a:lnTo>
                  <a:cubicBezTo>
                    <a:pt x="138197" y="2829670"/>
                    <a:pt x="0" y="2719521"/>
                    <a:pt x="0" y="2583738"/>
                  </a:cubicBezTo>
                  <a:close/>
                </a:path>
              </a:pathLst>
            </a:custGeom>
            <a:solidFill>
              <a:srgbClr val="9859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28700" y="7247865"/>
            <a:ext cx="4580143" cy="1472142"/>
            <a:chOff x="0" y="0"/>
            <a:chExt cx="1206293" cy="387725"/>
          </a:xfrm>
        </p:grpSpPr>
        <p:sp>
          <p:nvSpPr>
            <p:cNvPr id="7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206293" cy="387725"/>
            </a:xfrm>
            <a:custGeom>
              <a:avLst/>
              <a:gdLst/>
              <a:ahLst/>
              <a:cxnLst/>
              <a:rect l="l" t="t" r="r" b="b"/>
              <a:pathLst>
                <a:path w="1206293" h="387725">
                  <a:moveTo>
                    <a:pt x="25355" y="0"/>
                  </a:moveTo>
                  <a:lnTo>
                    <a:pt x="1180938" y="0"/>
                  </a:lnTo>
                  <a:cubicBezTo>
                    <a:pt x="1187662" y="0"/>
                    <a:pt x="1194112" y="2671"/>
                    <a:pt x="1198866" y="7426"/>
                  </a:cubicBezTo>
                  <a:cubicBezTo>
                    <a:pt x="1203621" y="12181"/>
                    <a:pt x="1206293" y="18630"/>
                    <a:pt x="1206293" y="25355"/>
                  </a:cubicBezTo>
                  <a:lnTo>
                    <a:pt x="1206293" y="362370"/>
                  </a:lnTo>
                  <a:cubicBezTo>
                    <a:pt x="1206293" y="376373"/>
                    <a:pt x="1194941" y="387725"/>
                    <a:pt x="1180938" y="387725"/>
                  </a:cubicBezTo>
                  <a:lnTo>
                    <a:pt x="25355" y="387725"/>
                  </a:lnTo>
                  <a:cubicBezTo>
                    <a:pt x="11352" y="387725"/>
                    <a:pt x="0" y="376373"/>
                    <a:pt x="0" y="362370"/>
                  </a:cubicBezTo>
                  <a:lnTo>
                    <a:pt x="0" y="25355"/>
                  </a:lnTo>
                  <a:cubicBezTo>
                    <a:pt x="0" y="11352"/>
                    <a:pt x="11352" y="0"/>
                    <a:pt x="25355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1206293" cy="49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54061" y="7451733"/>
            <a:ext cx="1089515" cy="1064405"/>
            <a:chOff x="0" y="0"/>
            <a:chExt cx="545257" cy="532690"/>
          </a:xfrm>
        </p:grpSpPr>
        <p:sp>
          <p:nvSpPr>
            <p:cNvPr id="10" name="Freeform 10" descr="a person in a white shirt with headphones on"/>
            <p:cNvSpPr/>
            <p:nvPr/>
          </p:nvSpPr>
          <p:spPr>
            <a:xfrm>
              <a:off x="0" y="0"/>
              <a:ext cx="545257" cy="532690"/>
            </a:xfrm>
            <a:prstGeom prst="ellipse">
              <a:avLst/>
            </a:pr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750651" y="612797"/>
            <a:ext cx="2492699" cy="660547"/>
            <a:chOff x="0" y="0"/>
            <a:chExt cx="3323599" cy="8807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95960" cy="880730"/>
            </a:xfrm>
            <a:custGeom>
              <a:avLst/>
              <a:gdLst/>
              <a:ahLst/>
              <a:cxnLst/>
              <a:rect l="l" t="t" r="r" b="b"/>
              <a:pathLst>
                <a:path w="795960" h="880730">
                  <a:moveTo>
                    <a:pt x="0" y="0"/>
                  </a:moveTo>
                  <a:lnTo>
                    <a:pt x="795960" y="0"/>
                  </a:lnTo>
                  <a:lnTo>
                    <a:pt x="795960" y="880730"/>
                  </a:lnTo>
                  <a:lnTo>
                    <a:pt x="0" y="88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205026" y="0"/>
              <a:ext cx="795960" cy="880730"/>
            </a:xfrm>
            <a:custGeom>
              <a:avLst/>
              <a:gdLst/>
              <a:ahLst/>
              <a:cxnLst/>
              <a:rect l="l" t="t" r="r" b="b"/>
              <a:pathLst>
                <a:path w="795960" h="880730">
                  <a:moveTo>
                    <a:pt x="0" y="0"/>
                  </a:moveTo>
                  <a:lnTo>
                    <a:pt x="795959" y="0"/>
                  </a:lnTo>
                  <a:lnTo>
                    <a:pt x="795959" y="880730"/>
                  </a:lnTo>
                  <a:lnTo>
                    <a:pt x="0" y="88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1348032" y="218115"/>
              <a:ext cx="1975567" cy="444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spc="-43">
                  <a:solidFill>
                    <a:srgbClr val="1A0044"/>
                  </a:solidFill>
                  <a:latin typeface="Open Sans"/>
                  <a:ea typeface="Open Sans"/>
                  <a:cs typeface="Open Sans"/>
                  <a:sym typeface="Open Sans"/>
                </a:rPr>
                <a:t>QUORUM</a:t>
              </a:r>
            </a:p>
          </p:txBody>
        </p:sp>
      </p:grpSp>
      <p:sp>
        <p:nvSpPr>
          <p:cNvPr id="15" name="Freeform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724120" y="6762153"/>
            <a:ext cx="3216423" cy="3524847"/>
          </a:xfrm>
          <a:custGeom>
            <a:avLst/>
            <a:gdLst/>
            <a:ahLst/>
            <a:cxnLst/>
            <a:rect l="l" t="t" r="r" b="b"/>
            <a:pathLst>
              <a:path w="3216423" h="3524847">
                <a:moveTo>
                  <a:pt x="0" y="0"/>
                </a:moveTo>
                <a:lnTo>
                  <a:pt x="3216423" y="0"/>
                </a:lnTo>
                <a:lnTo>
                  <a:pt x="3216423" y="3524847"/>
                </a:lnTo>
                <a:lnTo>
                  <a:pt x="0" y="35248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5400000">
            <a:off x="7989373" y="-2972116"/>
            <a:ext cx="3216423" cy="3524847"/>
          </a:xfrm>
          <a:custGeom>
            <a:avLst/>
            <a:gdLst/>
            <a:ahLst/>
            <a:cxnLst/>
            <a:rect l="l" t="t" r="r" b="b"/>
            <a:pathLst>
              <a:path w="3216423" h="3524847">
                <a:moveTo>
                  <a:pt x="0" y="0"/>
                </a:moveTo>
                <a:lnTo>
                  <a:pt x="3216423" y="0"/>
                </a:lnTo>
                <a:lnTo>
                  <a:pt x="3216423" y="3524848"/>
                </a:lnTo>
                <a:lnTo>
                  <a:pt x="0" y="35248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808256" y="2230916"/>
            <a:ext cx="1806838" cy="542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69856" y="2844576"/>
            <a:ext cx="1683636" cy="77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circuits deployed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44000" y="2303064"/>
            <a:ext cx="7133705" cy="400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1A0044"/>
                </a:solidFill>
                <a:latin typeface="Open Sans"/>
                <a:ea typeface="Open Sans"/>
                <a:cs typeface="Open Sans"/>
                <a:sym typeface="Open Sans"/>
              </a:rPr>
              <a:t>A BOARD VOTE</a:t>
            </a:r>
          </a:p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1A0044"/>
                </a:solidFill>
                <a:latin typeface="Open Sans"/>
                <a:ea typeface="Open Sans"/>
                <a:cs typeface="Open Sans"/>
                <a:sym typeface="Open Sans"/>
              </a:rPr>
              <a:t>THAT PROVES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4000" y="4303315"/>
            <a:ext cx="5581911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1">
                <a:solidFill>
                  <a:srgbClr val="9859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ITSELF.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44000" y="6639375"/>
            <a:ext cx="6077521" cy="1186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Supervisory infrastructure for bank loan classification, built on Midnight. A regulator's rules run inside a Compact contract, and the board approval behind a write-off is proved in zero knowledge.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86535" y="7931632"/>
            <a:ext cx="1797974" cy="367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A3331"/>
                </a:solidFill>
                <a:latin typeface="Open Sans"/>
                <a:ea typeface="Open Sans"/>
                <a:cs typeface="Open Sans"/>
                <a:sym typeface="Open Sans"/>
              </a:rPr>
              <a:t>Brainwave 2026 · Midnight Track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86535" y="7659072"/>
            <a:ext cx="2514210" cy="323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spc="-42">
                <a:solidFill>
                  <a:srgbClr val="9859FF"/>
                </a:solidFill>
                <a:latin typeface="Garet Bold"/>
                <a:ea typeface="Garet Bold"/>
                <a:cs typeface="Garet Bold"/>
                <a:sym typeface="Garet Bold"/>
              </a:rPr>
              <a:t>Team Logarithm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12693" y="2802903"/>
            <a:ext cx="3898896" cy="77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The book is held by the bank being examined, and can be revised afterwards.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882899" y="2053514"/>
            <a:ext cx="3002294" cy="3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0044"/>
                </a:solidFill>
                <a:latin typeface="Open Sans"/>
                <a:ea typeface="Open Sans"/>
                <a:cs typeface="Open Sans"/>
                <a:sym typeface="Open Sans"/>
              </a:rPr>
              <a:t>PROBLEM 01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856725" y="1826788"/>
            <a:ext cx="843006" cy="843006"/>
            <a:chOff x="0" y="0"/>
            <a:chExt cx="1124008" cy="1124008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24008" cy="1124008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859FF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39"/>
                  </a:lnSpc>
                </a:pPr>
                <a:endParaRPr/>
              </a:p>
            </p:txBody>
          </p:sp>
        </p:grpSp>
        <p:sp>
          <p:nvSpPr>
            <p:cNvPr id="8" name="Freeform 8"/>
            <p:cNvSpPr/>
            <p:nvPr/>
          </p:nvSpPr>
          <p:spPr>
            <a:xfrm flipH="1" flipV="1">
              <a:off x="353726" y="353726"/>
              <a:ext cx="416556" cy="416556"/>
            </a:xfrm>
            <a:custGeom>
              <a:avLst/>
              <a:gdLst/>
              <a:ahLst/>
              <a:cxnLst/>
              <a:rect l="l" t="t" r="r" b="b"/>
              <a:pathLst>
                <a:path w="416556" h="416556">
                  <a:moveTo>
                    <a:pt x="416556" y="416556"/>
                  </a:moveTo>
                  <a:lnTo>
                    <a:pt x="0" y="416556"/>
                  </a:lnTo>
                  <a:lnTo>
                    <a:pt x="0" y="0"/>
                  </a:lnTo>
                  <a:lnTo>
                    <a:pt x="416556" y="0"/>
                  </a:lnTo>
                  <a:lnTo>
                    <a:pt x="416556" y="416556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2856725" y="4172602"/>
            <a:ext cx="843006" cy="843006"/>
            <a:chOff x="0" y="0"/>
            <a:chExt cx="1124008" cy="1124008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124008" cy="1124008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859F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39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 flipH="1" flipV="1">
              <a:off x="353726" y="353726"/>
              <a:ext cx="416556" cy="416556"/>
            </a:xfrm>
            <a:custGeom>
              <a:avLst/>
              <a:gdLst/>
              <a:ahLst/>
              <a:cxnLst/>
              <a:rect l="l" t="t" r="r" b="b"/>
              <a:pathLst>
                <a:path w="416556" h="416556">
                  <a:moveTo>
                    <a:pt x="416556" y="416556"/>
                  </a:moveTo>
                  <a:lnTo>
                    <a:pt x="0" y="416556"/>
                  </a:lnTo>
                  <a:lnTo>
                    <a:pt x="0" y="0"/>
                  </a:lnTo>
                  <a:lnTo>
                    <a:pt x="416556" y="0"/>
                  </a:lnTo>
                  <a:lnTo>
                    <a:pt x="416556" y="416556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856725" y="6547608"/>
            <a:ext cx="843006" cy="843006"/>
            <a:chOff x="0" y="0"/>
            <a:chExt cx="1124008" cy="1124008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124008" cy="1124008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859FF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39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 flipH="1" flipV="1">
              <a:off x="353726" y="353726"/>
              <a:ext cx="416556" cy="416556"/>
            </a:xfrm>
            <a:custGeom>
              <a:avLst/>
              <a:gdLst/>
              <a:ahLst/>
              <a:cxnLst/>
              <a:rect l="l" t="t" r="r" b="b"/>
              <a:pathLst>
                <a:path w="416556" h="416556">
                  <a:moveTo>
                    <a:pt x="416556" y="416556"/>
                  </a:moveTo>
                  <a:lnTo>
                    <a:pt x="0" y="416556"/>
                  </a:lnTo>
                  <a:lnTo>
                    <a:pt x="0" y="0"/>
                  </a:lnTo>
                  <a:lnTo>
                    <a:pt x="416556" y="0"/>
                  </a:lnTo>
                  <a:lnTo>
                    <a:pt x="416556" y="416556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2812693" y="5177909"/>
            <a:ext cx="3898894" cy="77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It is read once a year, when an inspector is physically present.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82899" y="4428519"/>
            <a:ext cx="3002293" cy="3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0044"/>
                </a:solidFill>
                <a:latin typeface="Open Sans"/>
                <a:ea typeface="Open Sans"/>
                <a:cs typeface="Open Sans"/>
                <a:sym typeface="Open Sans"/>
              </a:rPr>
              <a:t>PROBLEM 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812693" y="7552914"/>
            <a:ext cx="3898894" cy="77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Proving board authority means publishing every director's signature.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882899" y="6803524"/>
            <a:ext cx="3002295" cy="3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0044"/>
                </a:solidFill>
                <a:latin typeface="Open Sans"/>
                <a:ea typeface="Open Sans"/>
                <a:cs typeface="Open Sans"/>
                <a:sym typeface="Open Sans"/>
              </a:rPr>
              <a:t>PROBLEM 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1884358"/>
            <a:ext cx="10879546" cy="1828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A0044"/>
                </a:solidFill>
                <a:latin typeface="Open Sans"/>
                <a:ea typeface="Open Sans"/>
                <a:cs typeface="Open Sans"/>
                <a:sym typeface="Open Sans"/>
              </a:rPr>
              <a:t>THE RULE EXISTS. THE RECORD DOES NOT.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4125594"/>
            <a:ext cx="7142639" cy="77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Classification already needs two named signatures. Rescheduling is already capped. The later attempts already need the board. None of that is missing.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28700" y="5943600"/>
            <a:ext cx="10680192" cy="1783080"/>
            <a:chOff x="0" y="0"/>
            <a:chExt cx="1747584" cy="531494"/>
          </a:xfrm>
        </p:grpSpPr>
        <p:sp>
          <p:nvSpPr>
            <p:cNvPr id="26" name="Freeform 26" descr="a close up of a person holding a bitcoin"/>
            <p:cNvSpPr/>
            <p:nvPr/>
          </p:nvSpPr>
          <p:spPr>
            <a:xfrm>
              <a:off x="0" y="0"/>
              <a:ext cx="1747584" cy="531494"/>
            </a:xfrm>
            <a:prstGeom prst="roundRect">
              <a:avLst>
                <a:gd name="adj" fmla="val 7000"/>
              </a:avLst>
            </a:pr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750651" y="612797"/>
            <a:ext cx="2492699" cy="660547"/>
            <a:chOff x="0" y="0"/>
            <a:chExt cx="3323599" cy="88073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95960" cy="880730"/>
            </a:xfrm>
            <a:custGeom>
              <a:avLst/>
              <a:gdLst/>
              <a:ahLst/>
              <a:cxnLst/>
              <a:rect l="l" t="t" r="r" b="b"/>
              <a:pathLst>
                <a:path w="795960" h="880730">
                  <a:moveTo>
                    <a:pt x="0" y="0"/>
                  </a:moveTo>
                  <a:lnTo>
                    <a:pt x="795960" y="0"/>
                  </a:lnTo>
                  <a:lnTo>
                    <a:pt x="795960" y="880730"/>
                  </a:lnTo>
                  <a:lnTo>
                    <a:pt x="0" y="88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205026" y="0"/>
              <a:ext cx="795960" cy="880730"/>
            </a:xfrm>
            <a:custGeom>
              <a:avLst/>
              <a:gdLst/>
              <a:ahLst/>
              <a:cxnLst/>
              <a:rect l="l" t="t" r="r" b="b"/>
              <a:pathLst>
                <a:path w="795960" h="880730">
                  <a:moveTo>
                    <a:pt x="0" y="0"/>
                  </a:moveTo>
                  <a:lnTo>
                    <a:pt x="795959" y="0"/>
                  </a:lnTo>
                  <a:lnTo>
                    <a:pt x="795959" y="880730"/>
                  </a:lnTo>
                  <a:lnTo>
                    <a:pt x="0" y="88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1348032" y="218115"/>
              <a:ext cx="1975567" cy="444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spc="-43">
                  <a:solidFill>
                    <a:srgbClr val="1A0044"/>
                  </a:solidFill>
                  <a:latin typeface="Open Sans"/>
                  <a:ea typeface="Open Sans"/>
                  <a:cs typeface="Open Sans"/>
                  <a:sym typeface="Open Sans"/>
                </a:rPr>
                <a:t>QUORUM</a:t>
              </a:r>
            </a:p>
          </p:txBody>
        </p:sp>
      </p:grpSp>
      <p:sp>
        <p:nvSpPr>
          <p:cNvPr id="31" name="Freeform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47128" y="9566375"/>
            <a:ext cx="2551657" cy="2754825"/>
          </a:xfrm>
          <a:custGeom>
            <a:avLst/>
            <a:gdLst/>
            <a:ahLst/>
            <a:cxnLst/>
            <a:rect l="l" t="t" r="r" b="b"/>
            <a:pathLst>
              <a:path w="2551657" h="2754825">
                <a:moveTo>
                  <a:pt x="0" y="0"/>
                </a:moveTo>
                <a:lnTo>
                  <a:pt x="2551656" y="0"/>
                </a:lnTo>
                <a:lnTo>
                  <a:pt x="2551656" y="2754825"/>
                </a:lnTo>
                <a:lnTo>
                  <a:pt x="0" y="2754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6367529" y="-1948915"/>
            <a:ext cx="2551657" cy="2754825"/>
          </a:xfrm>
          <a:custGeom>
            <a:avLst/>
            <a:gdLst/>
            <a:ahLst/>
            <a:cxnLst/>
            <a:rect l="l" t="t" r="r" b="b"/>
            <a:pathLst>
              <a:path w="2551657" h="2754825">
                <a:moveTo>
                  <a:pt x="0" y="2754825"/>
                </a:moveTo>
                <a:lnTo>
                  <a:pt x="2551657" y="2754825"/>
                </a:lnTo>
                <a:lnTo>
                  <a:pt x="2551657" y="0"/>
                </a:lnTo>
                <a:lnTo>
                  <a:pt x="0" y="0"/>
                </a:lnTo>
                <a:lnTo>
                  <a:pt x="0" y="275482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81360" y="3886200"/>
            <a:ext cx="5001649" cy="4480560"/>
            <a:chOff x="0" y="0"/>
            <a:chExt cx="962023" cy="862005"/>
          </a:xfrm>
        </p:grpSpPr>
        <p:sp>
          <p:nvSpPr>
            <p:cNvPr id="3" name="Freeform 3" descr="a one dollar coin sits on top of a stack of us dollars"/>
            <p:cNvSpPr/>
            <p:nvPr/>
          </p:nvSpPr>
          <p:spPr>
            <a:xfrm>
              <a:off x="0" y="0"/>
              <a:ext cx="962023" cy="862005"/>
            </a:xfrm>
            <a:prstGeom prst="roundRect">
              <a:avLst>
                <a:gd name="adj" fmla="val 7000"/>
              </a:avLst>
            </a:pr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329228" y="2232841"/>
            <a:ext cx="5128921" cy="1422634"/>
            <a:chOff x="0" y="0"/>
            <a:chExt cx="1350827" cy="374686"/>
          </a:xfrm>
        </p:grpSpPr>
        <p:sp>
          <p:nvSpPr>
            <p:cNvPr id="5" name="Freeform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350827" cy="374686"/>
            </a:xfrm>
            <a:custGeom>
              <a:avLst/>
              <a:gdLst/>
              <a:ahLst/>
              <a:cxnLst/>
              <a:rect l="l" t="t" r="r" b="b"/>
              <a:pathLst>
                <a:path w="1350827" h="374686">
                  <a:moveTo>
                    <a:pt x="22642" y="0"/>
                  </a:moveTo>
                  <a:lnTo>
                    <a:pt x="1328185" y="0"/>
                  </a:lnTo>
                  <a:cubicBezTo>
                    <a:pt x="1334190" y="0"/>
                    <a:pt x="1339949" y="2385"/>
                    <a:pt x="1344195" y="6632"/>
                  </a:cubicBezTo>
                  <a:cubicBezTo>
                    <a:pt x="1348441" y="10878"/>
                    <a:pt x="1350827" y="16637"/>
                    <a:pt x="1350827" y="22642"/>
                  </a:cubicBezTo>
                  <a:lnTo>
                    <a:pt x="1350827" y="352044"/>
                  </a:lnTo>
                  <a:cubicBezTo>
                    <a:pt x="1350827" y="358049"/>
                    <a:pt x="1348441" y="363808"/>
                    <a:pt x="1344195" y="368054"/>
                  </a:cubicBezTo>
                  <a:cubicBezTo>
                    <a:pt x="1339949" y="372300"/>
                    <a:pt x="1334190" y="374686"/>
                    <a:pt x="1328185" y="374686"/>
                  </a:cubicBezTo>
                  <a:lnTo>
                    <a:pt x="22642" y="374686"/>
                  </a:lnTo>
                  <a:cubicBezTo>
                    <a:pt x="16637" y="374686"/>
                    <a:pt x="10878" y="372300"/>
                    <a:pt x="6632" y="368054"/>
                  </a:cubicBezTo>
                  <a:cubicBezTo>
                    <a:pt x="2385" y="363808"/>
                    <a:pt x="0" y="358049"/>
                    <a:pt x="0" y="352044"/>
                  </a:cubicBezTo>
                  <a:lnTo>
                    <a:pt x="0" y="22642"/>
                  </a:lnTo>
                  <a:cubicBezTo>
                    <a:pt x="0" y="16637"/>
                    <a:pt x="2385" y="10878"/>
                    <a:pt x="6632" y="6632"/>
                  </a:cubicBezTo>
                  <a:cubicBezTo>
                    <a:pt x="10878" y="2385"/>
                    <a:pt x="16637" y="0"/>
                    <a:pt x="22642" y="0"/>
                  </a:cubicBezTo>
                  <a:close/>
                </a:path>
              </a:pathLst>
            </a:custGeom>
            <a:solidFill>
              <a:srgbClr val="9859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1350827" cy="4794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291898" y="1954787"/>
            <a:ext cx="7903662" cy="3657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A0044"/>
                </a:solidFill>
                <a:latin typeface="Open Sans"/>
                <a:ea typeface="Open Sans"/>
                <a:cs typeface="Open Sans"/>
                <a:sym typeface="Open Sans"/>
              </a:rPr>
              <a:t>PROVE THE VOTE. PUBLISH ONLY THE COUNT.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12680" y="6947389"/>
            <a:ext cx="6055673" cy="1186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A supervisor needs to know that enough of the right people approved. It does not need to know who they were. Midnight makes that difference expressible in a contract instead of a policy document.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12680" y="6496810"/>
            <a:ext cx="4197416" cy="3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0044"/>
                </a:solidFill>
                <a:latin typeface="Open Sans"/>
                <a:ea typeface="Open Sans"/>
                <a:cs typeface="Open Sans"/>
                <a:sym typeface="Open Sans"/>
              </a:rPr>
              <a:t>WHAT QUORUM DOES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98381" y="2324100"/>
            <a:ext cx="2580080" cy="1188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0"/>
              </a:lnSpc>
            </a:pP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refusal comes from the proof, not from the page.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665754" y="2514179"/>
            <a:ext cx="727864" cy="727864"/>
            <a:chOff x="0" y="0"/>
            <a:chExt cx="970485" cy="970485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970485" cy="970485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CF6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39"/>
                  </a:lnSpc>
                </a:pPr>
                <a:endParaRPr/>
              </a:p>
            </p:txBody>
          </p:sp>
        </p:grpSp>
        <p:sp>
          <p:nvSpPr>
            <p:cNvPr id="15" name="Freeform 15"/>
            <p:cNvSpPr/>
            <p:nvPr/>
          </p:nvSpPr>
          <p:spPr>
            <a:xfrm flipH="1" flipV="1">
              <a:off x="305412" y="305412"/>
              <a:ext cx="359661" cy="359661"/>
            </a:xfrm>
            <a:custGeom>
              <a:avLst/>
              <a:gdLst/>
              <a:ahLst/>
              <a:cxnLst/>
              <a:rect l="l" t="t" r="r" b="b"/>
              <a:pathLst>
                <a:path w="359661" h="359661">
                  <a:moveTo>
                    <a:pt x="359661" y="359661"/>
                  </a:moveTo>
                  <a:lnTo>
                    <a:pt x="0" y="359661"/>
                  </a:lnTo>
                  <a:lnTo>
                    <a:pt x="0" y="0"/>
                  </a:lnTo>
                  <a:lnTo>
                    <a:pt x="359661" y="0"/>
                  </a:lnTo>
                  <a:lnTo>
                    <a:pt x="359661" y="359661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50651" y="612797"/>
            <a:ext cx="2492699" cy="660547"/>
            <a:chOff x="0" y="0"/>
            <a:chExt cx="3323599" cy="8807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95960" cy="880730"/>
            </a:xfrm>
            <a:custGeom>
              <a:avLst/>
              <a:gdLst/>
              <a:ahLst/>
              <a:cxnLst/>
              <a:rect l="l" t="t" r="r" b="b"/>
              <a:pathLst>
                <a:path w="795960" h="880730">
                  <a:moveTo>
                    <a:pt x="0" y="0"/>
                  </a:moveTo>
                  <a:lnTo>
                    <a:pt x="795960" y="0"/>
                  </a:lnTo>
                  <a:lnTo>
                    <a:pt x="795960" y="880730"/>
                  </a:lnTo>
                  <a:lnTo>
                    <a:pt x="0" y="88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205026" y="0"/>
              <a:ext cx="795960" cy="880730"/>
            </a:xfrm>
            <a:custGeom>
              <a:avLst/>
              <a:gdLst/>
              <a:ahLst/>
              <a:cxnLst/>
              <a:rect l="l" t="t" r="r" b="b"/>
              <a:pathLst>
                <a:path w="795960" h="880730">
                  <a:moveTo>
                    <a:pt x="0" y="0"/>
                  </a:moveTo>
                  <a:lnTo>
                    <a:pt x="795959" y="0"/>
                  </a:lnTo>
                  <a:lnTo>
                    <a:pt x="795959" y="880730"/>
                  </a:lnTo>
                  <a:lnTo>
                    <a:pt x="0" y="88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1348032" y="218115"/>
              <a:ext cx="1975567" cy="444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spc="-43">
                  <a:solidFill>
                    <a:srgbClr val="1A0044"/>
                  </a:solidFill>
                  <a:latin typeface="Open Sans"/>
                  <a:ea typeface="Open Sans"/>
                  <a:cs typeface="Open Sans"/>
                  <a:sym typeface="Open Sans"/>
                </a:rPr>
                <a:t>QUORUM</a:t>
              </a:r>
            </a:p>
          </p:txBody>
        </p:sp>
      </p:grpSp>
      <p:sp>
        <p:nvSpPr>
          <p:cNvPr id="20" name="Freeform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5400000">
            <a:off x="7989373" y="-2972116"/>
            <a:ext cx="3216423" cy="3524847"/>
          </a:xfrm>
          <a:custGeom>
            <a:avLst/>
            <a:gdLst/>
            <a:ahLst/>
            <a:cxnLst/>
            <a:rect l="l" t="t" r="r" b="b"/>
            <a:pathLst>
              <a:path w="3216423" h="3524847">
                <a:moveTo>
                  <a:pt x="0" y="0"/>
                </a:moveTo>
                <a:lnTo>
                  <a:pt x="3216423" y="0"/>
                </a:lnTo>
                <a:lnTo>
                  <a:pt x="3216423" y="3524848"/>
                </a:lnTo>
                <a:lnTo>
                  <a:pt x="0" y="35248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724120" y="6762153"/>
            <a:ext cx="3216423" cy="3524847"/>
          </a:xfrm>
          <a:custGeom>
            <a:avLst/>
            <a:gdLst/>
            <a:ahLst/>
            <a:cxnLst/>
            <a:rect l="l" t="t" r="r" b="b"/>
            <a:pathLst>
              <a:path w="3216423" h="3524847">
                <a:moveTo>
                  <a:pt x="0" y="0"/>
                </a:moveTo>
                <a:lnTo>
                  <a:pt x="3216423" y="0"/>
                </a:lnTo>
                <a:lnTo>
                  <a:pt x="3216423" y="3524847"/>
                </a:lnTo>
                <a:lnTo>
                  <a:pt x="0" y="35248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49724" y="1907110"/>
            <a:ext cx="5742950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1A0044"/>
                </a:solidFill>
                <a:latin typeface="Open Sans"/>
                <a:ea typeface="Open Sans"/>
                <a:cs typeface="Open Sans"/>
                <a:sym typeface="Open Sans"/>
              </a:rPr>
              <a:t>HOW IT WORKS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616937" y="2703012"/>
            <a:ext cx="3568460" cy="1186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A director registers persistentHash([secret]) — a commitment, never the secret.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20642" y="2167450"/>
            <a:ext cx="2378510" cy="3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0044"/>
                </a:solidFill>
                <a:latin typeface="Open Sans"/>
                <a:ea typeface="Open Sans"/>
                <a:cs typeface="Open Sans"/>
                <a:sym typeface="Open Sans"/>
              </a:rPr>
              <a:t>01 · COMMIT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46682" y="2703012"/>
            <a:ext cx="3282214" cy="1186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To approve, they supply that secret privately. The circuit re-derives the hash.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750387" y="2167450"/>
            <a:ext cx="2378510" cy="3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0044"/>
                </a:solidFill>
                <a:latin typeface="Open Sans"/>
                <a:ea typeface="Open Sans"/>
                <a:cs typeface="Open Sans"/>
                <a:sym typeface="Open Sans"/>
              </a:rPr>
              <a:t>02 · PROVE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16937" y="5227141"/>
            <a:ext cx="3872919" cy="1186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Confirmed, non-revoked, distinct slots are counted. Duplicates are rejected pairwise.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20642" y="4691580"/>
            <a:ext cx="2378510" cy="3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0044"/>
                </a:solidFill>
                <a:latin typeface="Open Sans"/>
                <a:ea typeface="Open Sans"/>
                <a:cs typeface="Open Sans"/>
                <a:sym typeface="Open Sans"/>
              </a:rPr>
              <a:t>03 · COUNT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46682" y="5227142"/>
            <a:ext cx="3520846" cy="1186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Only the count crosses the boundary. The secrets stay in the witness.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50387" y="4691580"/>
            <a:ext cx="2378510" cy="3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0044"/>
                </a:solidFill>
                <a:latin typeface="Open Sans"/>
                <a:ea typeface="Open Sans"/>
                <a:cs typeface="Open Sans"/>
                <a:sym typeface="Open Sans"/>
              </a:rPr>
              <a:t>04 · DISCLOSE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378306" y="6818743"/>
            <a:ext cx="7989223" cy="1529855"/>
            <a:chOff x="0" y="0"/>
            <a:chExt cx="2104158" cy="402925"/>
          </a:xfrm>
        </p:grpSpPr>
        <p:sp>
          <p:nvSpPr>
            <p:cNvPr id="12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04158" cy="402925"/>
            </a:xfrm>
            <a:custGeom>
              <a:avLst/>
              <a:gdLst/>
              <a:ahLst/>
              <a:cxnLst/>
              <a:rect l="l" t="t" r="r" b="b"/>
              <a:pathLst>
                <a:path w="2104158" h="402925">
                  <a:moveTo>
                    <a:pt x="14536" y="0"/>
                  </a:moveTo>
                  <a:lnTo>
                    <a:pt x="2089622" y="0"/>
                  </a:lnTo>
                  <a:cubicBezTo>
                    <a:pt x="2097650" y="0"/>
                    <a:pt x="2104158" y="6508"/>
                    <a:pt x="2104158" y="14536"/>
                  </a:cubicBezTo>
                  <a:lnTo>
                    <a:pt x="2104158" y="388389"/>
                  </a:lnTo>
                  <a:cubicBezTo>
                    <a:pt x="2104158" y="396417"/>
                    <a:pt x="2097650" y="402925"/>
                    <a:pt x="2089622" y="402925"/>
                  </a:cubicBezTo>
                  <a:lnTo>
                    <a:pt x="14536" y="402925"/>
                  </a:lnTo>
                  <a:cubicBezTo>
                    <a:pt x="10681" y="402925"/>
                    <a:pt x="6983" y="401393"/>
                    <a:pt x="4257" y="398667"/>
                  </a:cubicBezTo>
                  <a:cubicBezTo>
                    <a:pt x="1531" y="395941"/>
                    <a:pt x="0" y="392244"/>
                    <a:pt x="0" y="388389"/>
                  </a:cubicBezTo>
                  <a:lnTo>
                    <a:pt x="0" y="14536"/>
                  </a:lnTo>
                  <a:cubicBezTo>
                    <a:pt x="0" y="6508"/>
                    <a:pt x="6508" y="0"/>
                    <a:pt x="14536" y="0"/>
                  </a:cubicBezTo>
                  <a:close/>
                </a:path>
              </a:pathLst>
            </a:custGeom>
            <a:solidFill>
              <a:srgbClr val="9859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2104158" cy="50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750105" y="7127756"/>
            <a:ext cx="6222332" cy="77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Compact's disclose() analysis enforces that boundary at compile time, not by convention.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249724" y="4855231"/>
            <a:ext cx="5747582" cy="3493367"/>
            <a:chOff x="0" y="0"/>
            <a:chExt cx="940850" cy="571847"/>
          </a:xfrm>
        </p:grpSpPr>
        <p:sp>
          <p:nvSpPr>
            <p:cNvPr id="16" name="Freeform 16" descr="a laptop with gold coins sitting on top of it"/>
            <p:cNvSpPr/>
            <p:nvPr/>
          </p:nvSpPr>
          <p:spPr>
            <a:xfrm>
              <a:off x="0" y="0"/>
              <a:ext cx="940851" cy="571847"/>
            </a:xfrm>
            <a:prstGeom prst="roundRect">
              <a:avLst>
                <a:gd name="adj" fmla="val 7000"/>
              </a:avLst>
            </a:pr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8734348" y="7223005"/>
            <a:ext cx="727864" cy="727864"/>
            <a:chOff x="0" y="0"/>
            <a:chExt cx="970485" cy="970485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970485" cy="970485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CF6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39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 flipH="1" flipV="1">
              <a:off x="305412" y="305412"/>
              <a:ext cx="359661" cy="359661"/>
            </a:xfrm>
            <a:custGeom>
              <a:avLst/>
              <a:gdLst/>
              <a:ahLst/>
              <a:cxnLst/>
              <a:rect l="l" t="t" r="r" b="b"/>
              <a:pathLst>
                <a:path w="359661" h="359661">
                  <a:moveTo>
                    <a:pt x="359661" y="359661"/>
                  </a:moveTo>
                  <a:lnTo>
                    <a:pt x="0" y="359661"/>
                  </a:lnTo>
                  <a:lnTo>
                    <a:pt x="0" y="0"/>
                  </a:lnTo>
                  <a:lnTo>
                    <a:pt x="359661" y="0"/>
                  </a:lnTo>
                  <a:lnTo>
                    <a:pt x="359661" y="359661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8672925" y="2038571"/>
            <a:ext cx="581815" cy="581815"/>
            <a:chOff x="0" y="0"/>
            <a:chExt cx="775754" cy="775754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775754" cy="775754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859FF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39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 flipH="1" flipV="1">
              <a:off x="244130" y="244130"/>
              <a:ext cx="287494" cy="287494"/>
            </a:xfrm>
            <a:custGeom>
              <a:avLst/>
              <a:gdLst/>
              <a:ahLst/>
              <a:cxnLst/>
              <a:rect l="l" t="t" r="r" b="b"/>
              <a:pathLst>
                <a:path w="287494" h="287494">
                  <a:moveTo>
                    <a:pt x="287494" y="287494"/>
                  </a:moveTo>
                  <a:lnTo>
                    <a:pt x="0" y="287494"/>
                  </a:lnTo>
                  <a:lnTo>
                    <a:pt x="0" y="0"/>
                  </a:lnTo>
                  <a:lnTo>
                    <a:pt x="287494" y="0"/>
                  </a:lnTo>
                  <a:lnTo>
                    <a:pt x="287494" y="28749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8672925" y="4564324"/>
            <a:ext cx="581815" cy="581815"/>
            <a:chOff x="0" y="0"/>
            <a:chExt cx="775754" cy="775754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775754" cy="775754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859FF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39"/>
                  </a:lnSpc>
                </a:pPr>
                <a:endParaRPr/>
              </a:p>
            </p:txBody>
          </p:sp>
        </p:grpSp>
        <p:sp>
          <p:nvSpPr>
            <p:cNvPr id="31" name="Freeform 31"/>
            <p:cNvSpPr/>
            <p:nvPr/>
          </p:nvSpPr>
          <p:spPr>
            <a:xfrm flipH="1" flipV="1">
              <a:off x="244130" y="244130"/>
              <a:ext cx="287494" cy="287494"/>
            </a:xfrm>
            <a:custGeom>
              <a:avLst/>
              <a:gdLst/>
              <a:ahLst/>
              <a:cxnLst/>
              <a:rect l="l" t="t" r="r" b="b"/>
              <a:pathLst>
                <a:path w="287494" h="287494">
                  <a:moveTo>
                    <a:pt x="287494" y="287494"/>
                  </a:moveTo>
                  <a:lnTo>
                    <a:pt x="0" y="287494"/>
                  </a:lnTo>
                  <a:lnTo>
                    <a:pt x="0" y="0"/>
                  </a:lnTo>
                  <a:lnTo>
                    <a:pt x="287494" y="0"/>
                  </a:lnTo>
                  <a:lnTo>
                    <a:pt x="287494" y="28749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12797435" y="2038571"/>
            <a:ext cx="581815" cy="581815"/>
            <a:chOff x="0" y="0"/>
            <a:chExt cx="775754" cy="775754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775754" cy="775754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859FF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39"/>
                  </a:lnSpc>
                </a:pPr>
                <a:endParaRPr/>
              </a:p>
            </p:txBody>
          </p:sp>
        </p:grpSp>
        <p:sp>
          <p:nvSpPr>
            <p:cNvPr id="36" name="Freeform 36"/>
            <p:cNvSpPr/>
            <p:nvPr/>
          </p:nvSpPr>
          <p:spPr>
            <a:xfrm flipH="1" flipV="1">
              <a:off x="244130" y="244130"/>
              <a:ext cx="287494" cy="287494"/>
            </a:xfrm>
            <a:custGeom>
              <a:avLst/>
              <a:gdLst/>
              <a:ahLst/>
              <a:cxnLst/>
              <a:rect l="l" t="t" r="r" b="b"/>
              <a:pathLst>
                <a:path w="287494" h="287494">
                  <a:moveTo>
                    <a:pt x="287494" y="287494"/>
                  </a:moveTo>
                  <a:lnTo>
                    <a:pt x="0" y="287494"/>
                  </a:lnTo>
                  <a:lnTo>
                    <a:pt x="0" y="0"/>
                  </a:lnTo>
                  <a:lnTo>
                    <a:pt x="287494" y="0"/>
                  </a:lnTo>
                  <a:lnTo>
                    <a:pt x="287494" y="28749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12797435" y="4564324"/>
            <a:ext cx="581815" cy="581815"/>
            <a:chOff x="0" y="0"/>
            <a:chExt cx="775754" cy="775754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775754" cy="775754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859FF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39"/>
                  </a:lnSpc>
                </a:pPr>
                <a:endParaRPr/>
              </a:p>
            </p:txBody>
          </p:sp>
        </p:grpSp>
        <p:sp>
          <p:nvSpPr>
            <p:cNvPr id="41" name="Freeform 41"/>
            <p:cNvSpPr/>
            <p:nvPr/>
          </p:nvSpPr>
          <p:spPr>
            <a:xfrm flipH="1" flipV="1">
              <a:off x="244130" y="244130"/>
              <a:ext cx="287494" cy="287494"/>
            </a:xfrm>
            <a:custGeom>
              <a:avLst/>
              <a:gdLst/>
              <a:ahLst/>
              <a:cxnLst/>
              <a:rect l="l" t="t" r="r" b="b"/>
              <a:pathLst>
                <a:path w="287494" h="287494">
                  <a:moveTo>
                    <a:pt x="287494" y="287494"/>
                  </a:moveTo>
                  <a:lnTo>
                    <a:pt x="0" y="287494"/>
                  </a:lnTo>
                  <a:lnTo>
                    <a:pt x="0" y="0"/>
                  </a:lnTo>
                  <a:lnTo>
                    <a:pt x="287494" y="0"/>
                  </a:lnTo>
                  <a:lnTo>
                    <a:pt x="287494" y="28749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750651" y="612797"/>
            <a:ext cx="2492699" cy="660547"/>
            <a:chOff x="0" y="0"/>
            <a:chExt cx="3323599" cy="88073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95960" cy="880730"/>
            </a:xfrm>
            <a:custGeom>
              <a:avLst/>
              <a:gdLst/>
              <a:ahLst/>
              <a:cxnLst/>
              <a:rect l="l" t="t" r="r" b="b"/>
              <a:pathLst>
                <a:path w="795960" h="880730">
                  <a:moveTo>
                    <a:pt x="0" y="0"/>
                  </a:moveTo>
                  <a:lnTo>
                    <a:pt x="795960" y="0"/>
                  </a:lnTo>
                  <a:lnTo>
                    <a:pt x="795960" y="880730"/>
                  </a:lnTo>
                  <a:lnTo>
                    <a:pt x="0" y="88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4" name="Freeform 44"/>
            <p:cNvSpPr/>
            <p:nvPr/>
          </p:nvSpPr>
          <p:spPr>
            <a:xfrm>
              <a:off x="205026" y="0"/>
              <a:ext cx="795960" cy="880730"/>
            </a:xfrm>
            <a:custGeom>
              <a:avLst/>
              <a:gdLst/>
              <a:ahLst/>
              <a:cxnLst/>
              <a:rect l="l" t="t" r="r" b="b"/>
              <a:pathLst>
                <a:path w="795960" h="880730">
                  <a:moveTo>
                    <a:pt x="0" y="0"/>
                  </a:moveTo>
                  <a:lnTo>
                    <a:pt x="795959" y="0"/>
                  </a:lnTo>
                  <a:lnTo>
                    <a:pt x="795959" y="880730"/>
                  </a:lnTo>
                  <a:lnTo>
                    <a:pt x="0" y="88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1348032" y="218115"/>
              <a:ext cx="1975567" cy="444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spc="-43">
                  <a:solidFill>
                    <a:srgbClr val="1A0044"/>
                  </a:solidFill>
                  <a:latin typeface="Open Sans"/>
                  <a:ea typeface="Open Sans"/>
                  <a:cs typeface="Open Sans"/>
                  <a:sym typeface="Open Sans"/>
                </a:rPr>
                <a:t>QUORUM</a:t>
              </a:r>
            </a:p>
          </p:txBody>
        </p:sp>
      </p:grpSp>
      <p:sp>
        <p:nvSpPr>
          <p:cNvPr id="46" name="Freeform 46"/>
          <p:cNvSpPr/>
          <p:nvPr/>
        </p:nvSpPr>
        <p:spPr>
          <a:xfrm>
            <a:off x="-247128" y="9566375"/>
            <a:ext cx="2551657" cy="2754825"/>
          </a:xfrm>
          <a:custGeom>
            <a:avLst/>
            <a:gdLst/>
            <a:ahLst/>
            <a:cxnLst/>
            <a:rect l="l" t="t" r="r" b="b"/>
            <a:pathLst>
              <a:path w="2551657" h="2754825">
                <a:moveTo>
                  <a:pt x="0" y="0"/>
                </a:moveTo>
                <a:lnTo>
                  <a:pt x="2551656" y="0"/>
                </a:lnTo>
                <a:lnTo>
                  <a:pt x="2551656" y="2754825"/>
                </a:lnTo>
                <a:lnTo>
                  <a:pt x="0" y="2754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 flipV="1">
            <a:off x="16367529" y="-1948915"/>
            <a:ext cx="2551657" cy="2754825"/>
          </a:xfrm>
          <a:custGeom>
            <a:avLst/>
            <a:gdLst/>
            <a:ahLst/>
            <a:cxnLst/>
            <a:rect l="l" t="t" r="r" b="b"/>
            <a:pathLst>
              <a:path w="2551657" h="2754825">
                <a:moveTo>
                  <a:pt x="0" y="2754825"/>
                </a:moveTo>
                <a:lnTo>
                  <a:pt x="2551657" y="2754825"/>
                </a:lnTo>
                <a:lnTo>
                  <a:pt x="2551657" y="0"/>
                </a:lnTo>
                <a:lnTo>
                  <a:pt x="0" y="0"/>
                </a:lnTo>
                <a:lnTo>
                  <a:pt x="0" y="275482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08495" y="1644620"/>
            <a:ext cx="8648799" cy="91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1A0044"/>
                </a:solidFill>
                <a:latin typeface="Open Sans"/>
                <a:ea typeface="Open Sans"/>
                <a:cs typeface="Open Sans"/>
                <a:sym typeface="Open Sans"/>
              </a:rPr>
              <a:t>WHY IT WORKS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361341" y="3581055"/>
            <a:ext cx="4232256" cy="2607360"/>
            <a:chOff x="0" y="0"/>
            <a:chExt cx="1114668" cy="686712"/>
          </a:xfrm>
        </p:grpSpPr>
        <p:sp>
          <p:nvSpPr>
            <p:cNvPr id="4" name="Freeform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114668" cy="686712"/>
            </a:xfrm>
            <a:custGeom>
              <a:avLst/>
              <a:gdLst/>
              <a:ahLst/>
              <a:cxnLst/>
              <a:rect l="l" t="t" r="r" b="b"/>
              <a:pathLst>
                <a:path w="1114668" h="686712">
                  <a:moveTo>
                    <a:pt x="27439" y="0"/>
                  </a:moveTo>
                  <a:lnTo>
                    <a:pt x="1087229" y="0"/>
                  </a:lnTo>
                  <a:cubicBezTo>
                    <a:pt x="1094506" y="0"/>
                    <a:pt x="1101486" y="2891"/>
                    <a:pt x="1106631" y="8037"/>
                  </a:cubicBezTo>
                  <a:cubicBezTo>
                    <a:pt x="1111777" y="13182"/>
                    <a:pt x="1114668" y="20162"/>
                    <a:pt x="1114668" y="27439"/>
                  </a:cubicBezTo>
                  <a:lnTo>
                    <a:pt x="1114668" y="659273"/>
                  </a:lnTo>
                  <a:cubicBezTo>
                    <a:pt x="1114668" y="666550"/>
                    <a:pt x="1111777" y="673530"/>
                    <a:pt x="1106631" y="678675"/>
                  </a:cubicBezTo>
                  <a:cubicBezTo>
                    <a:pt x="1101486" y="683821"/>
                    <a:pt x="1094506" y="686712"/>
                    <a:pt x="1087229" y="686712"/>
                  </a:cubicBezTo>
                  <a:lnTo>
                    <a:pt x="27439" y="686712"/>
                  </a:lnTo>
                  <a:cubicBezTo>
                    <a:pt x="20162" y="686712"/>
                    <a:pt x="13182" y="683821"/>
                    <a:pt x="8037" y="678675"/>
                  </a:cubicBezTo>
                  <a:cubicBezTo>
                    <a:pt x="2891" y="673530"/>
                    <a:pt x="0" y="666550"/>
                    <a:pt x="0" y="659273"/>
                  </a:cubicBezTo>
                  <a:lnTo>
                    <a:pt x="0" y="27439"/>
                  </a:lnTo>
                  <a:cubicBezTo>
                    <a:pt x="0" y="20162"/>
                    <a:pt x="2891" y="13182"/>
                    <a:pt x="8037" y="8037"/>
                  </a:cubicBezTo>
                  <a:cubicBezTo>
                    <a:pt x="13182" y="2891"/>
                    <a:pt x="20162" y="0"/>
                    <a:pt x="27439" y="0"/>
                  </a:cubicBezTo>
                  <a:close/>
                </a:path>
              </a:pathLst>
            </a:custGeom>
            <a:solidFill>
              <a:srgbClr val="9859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1114668" cy="791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055016" y="6188415"/>
            <a:ext cx="4232256" cy="2607360"/>
            <a:chOff x="0" y="0"/>
            <a:chExt cx="1114668" cy="686712"/>
          </a:xfrm>
        </p:grpSpPr>
        <p:sp>
          <p:nvSpPr>
            <p:cNvPr id="7" name="Freeform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114668" cy="686712"/>
            </a:xfrm>
            <a:custGeom>
              <a:avLst/>
              <a:gdLst/>
              <a:ahLst/>
              <a:cxnLst/>
              <a:rect l="l" t="t" r="r" b="b"/>
              <a:pathLst>
                <a:path w="1114668" h="686712">
                  <a:moveTo>
                    <a:pt x="27439" y="0"/>
                  </a:moveTo>
                  <a:lnTo>
                    <a:pt x="1087229" y="0"/>
                  </a:lnTo>
                  <a:cubicBezTo>
                    <a:pt x="1094506" y="0"/>
                    <a:pt x="1101486" y="2891"/>
                    <a:pt x="1106631" y="8037"/>
                  </a:cubicBezTo>
                  <a:cubicBezTo>
                    <a:pt x="1111777" y="13182"/>
                    <a:pt x="1114668" y="20162"/>
                    <a:pt x="1114668" y="27439"/>
                  </a:cubicBezTo>
                  <a:lnTo>
                    <a:pt x="1114668" y="659273"/>
                  </a:lnTo>
                  <a:cubicBezTo>
                    <a:pt x="1114668" y="666550"/>
                    <a:pt x="1111777" y="673530"/>
                    <a:pt x="1106631" y="678675"/>
                  </a:cubicBezTo>
                  <a:cubicBezTo>
                    <a:pt x="1101486" y="683821"/>
                    <a:pt x="1094506" y="686712"/>
                    <a:pt x="1087229" y="686712"/>
                  </a:cubicBezTo>
                  <a:lnTo>
                    <a:pt x="27439" y="686712"/>
                  </a:lnTo>
                  <a:cubicBezTo>
                    <a:pt x="20162" y="686712"/>
                    <a:pt x="13182" y="683821"/>
                    <a:pt x="8037" y="678675"/>
                  </a:cubicBezTo>
                  <a:cubicBezTo>
                    <a:pt x="2891" y="673530"/>
                    <a:pt x="0" y="666550"/>
                    <a:pt x="0" y="659273"/>
                  </a:cubicBezTo>
                  <a:lnTo>
                    <a:pt x="0" y="27439"/>
                  </a:lnTo>
                  <a:cubicBezTo>
                    <a:pt x="0" y="20162"/>
                    <a:pt x="2891" y="13182"/>
                    <a:pt x="8037" y="8037"/>
                  </a:cubicBezTo>
                  <a:cubicBezTo>
                    <a:pt x="13182" y="2891"/>
                    <a:pt x="20162" y="0"/>
                    <a:pt x="27439" y="0"/>
                  </a:cubicBezTo>
                  <a:close/>
                </a:path>
              </a:pathLst>
            </a:custGeom>
            <a:solidFill>
              <a:srgbClr val="FE4CB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1114668" cy="791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683150" y="3581055"/>
            <a:ext cx="4232256" cy="2607360"/>
            <a:chOff x="0" y="0"/>
            <a:chExt cx="1114668" cy="686712"/>
          </a:xfrm>
        </p:grpSpPr>
        <p:sp>
          <p:nvSpPr>
            <p:cNvPr id="10" name="Freeform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114668" cy="686712"/>
            </a:xfrm>
            <a:custGeom>
              <a:avLst/>
              <a:gdLst/>
              <a:ahLst/>
              <a:cxnLst/>
              <a:rect l="l" t="t" r="r" b="b"/>
              <a:pathLst>
                <a:path w="1114668" h="686712">
                  <a:moveTo>
                    <a:pt x="27439" y="0"/>
                  </a:moveTo>
                  <a:lnTo>
                    <a:pt x="1087229" y="0"/>
                  </a:lnTo>
                  <a:cubicBezTo>
                    <a:pt x="1094506" y="0"/>
                    <a:pt x="1101486" y="2891"/>
                    <a:pt x="1106631" y="8037"/>
                  </a:cubicBezTo>
                  <a:cubicBezTo>
                    <a:pt x="1111777" y="13182"/>
                    <a:pt x="1114668" y="20162"/>
                    <a:pt x="1114668" y="27439"/>
                  </a:cubicBezTo>
                  <a:lnTo>
                    <a:pt x="1114668" y="659273"/>
                  </a:lnTo>
                  <a:cubicBezTo>
                    <a:pt x="1114668" y="666550"/>
                    <a:pt x="1111777" y="673530"/>
                    <a:pt x="1106631" y="678675"/>
                  </a:cubicBezTo>
                  <a:cubicBezTo>
                    <a:pt x="1101486" y="683821"/>
                    <a:pt x="1094506" y="686712"/>
                    <a:pt x="1087229" y="686712"/>
                  </a:cubicBezTo>
                  <a:lnTo>
                    <a:pt x="27439" y="686712"/>
                  </a:lnTo>
                  <a:cubicBezTo>
                    <a:pt x="20162" y="686712"/>
                    <a:pt x="13182" y="683821"/>
                    <a:pt x="8037" y="678675"/>
                  </a:cubicBezTo>
                  <a:cubicBezTo>
                    <a:pt x="2891" y="673530"/>
                    <a:pt x="0" y="666550"/>
                    <a:pt x="0" y="659273"/>
                  </a:cubicBezTo>
                  <a:lnTo>
                    <a:pt x="0" y="27439"/>
                  </a:lnTo>
                  <a:cubicBezTo>
                    <a:pt x="0" y="20162"/>
                    <a:pt x="2891" y="13182"/>
                    <a:pt x="8037" y="8037"/>
                  </a:cubicBezTo>
                  <a:cubicBezTo>
                    <a:pt x="13182" y="2891"/>
                    <a:pt x="20162" y="0"/>
                    <a:pt x="27439" y="0"/>
                  </a:cubicBezTo>
                  <a:close/>
                </a:path>
              </a:pathLst>
            </a:custGeom>
            <a:solidFill>
              <a:srgbClr val="9859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1114668" cy="791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947890" y="3802611"/>
            <a:ext cx="3097233" cy="1596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transaction could not be constructed. No front-end check to bypass.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09137" y="7702914"/>
            <a:ext cx="2765280" cy="3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spc="-42">
                <a:solidFill>
                  <a:srgbClr val="1A004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REFUSED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18596" y="7970976"/>
            <a:ext cx="2755821" cy="367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18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write-off · 0 of 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61539" y="6989841"/>
            <a:ext cx="3619211" cy="1186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Same submission, two approvals. A receipt names contract and block.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83774" y="4011878"/>
            <a:ext cx="2765280" cy="3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spc="-42">
                <a:solidFill>
                  <a:srgbClr val="13131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COMMITTED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69349" y="4279940"/>
            <a:ext cx="3803590" cy="367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18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same loan · 2 of 2 · block 586223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992484" y="3931610"/>
            <a:ext cx="3668735" cy="1186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second rule, a different privacy shape. Two is a pattern.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39482" y="7702914"/>
            <a:ext cx="2765280" cy="3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spc="-42">
                <a:solidFill>
                  <a:srgbClr val="1A004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AND AGAIN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925056" y="7970976"/>
            <a:ext cx="3803590" cy="367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18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restructure · block 586236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3583848" y="5627510"/>
            <a:ext cx="1804305" cy="1844207"/>
            <a:chOff x="0" y="0"/>
            <a:chExt cx="797419" cy="81505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97419" cy="815054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8249953" y="5030795"/>
            <a:ext cx="1804305" cy="1844207"/>
            <a:chOff x="0" y="0"/>
            <a:chExt cx="797419" cy="81505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97419" cy="815054"/>
            </a:xfrm>
            <a:prstGeom prst="ellipse">
              <a:avLst/>
            </a:pr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2897126" y="5627510"/>
            <a:ext cx="1804305" cy="1844207"/>
            <a:chOff x="0" y="0"/>
            <a:chExt cx="797419" cy="81505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97419" cy="815054"/>
            </a:xfrm>
            <a:prstGeom prst="ellipse">
              <a:avLst/>
            </a:pr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750651" y="612797"/>
            <a:ext cx="2492699" cy="660547"/>
            <a:chOff x="0" y="0"/>
            <a:chExt cx="3323599" cy="88073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95960" cy="880730"/>
            </a:xfrm>
            <a:custGeom>
              <a:avLst/>
              <a:gdLst/>
              <a:ahLst/>
              <a:cxnLst/>
              <a:rect l="l" t="t" r="r" b="b"/>
              <a:pathLst>
                <a:path w="795960" h="880730">
                  <a:moveTo>
                    <a:pt x="0" y="0"/>
                  </a:moveTo>
                  <a:lnTo>
                    <a:pt x="795960" y="0"/>
                  </a:lnTo>
                  <a:lnTo>
                    <a:pt x="795960" y="880730"/>
                  </a:lnTo>
                  <a:lnTo>
                    <a:pt x="0" y="88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205026" y="0"/>
              <a:ext cx="795960" cy="880730"/>
            </a:xfrm>
            <a:custGeom>
              <a:avLst/>
              <a:gdLst/>
              <a:ahLst/>
              <a:cxnLst/>
              <a:rect l="l" t="t" r="r" b="b"/>
              <a:pathLst>
                <a:path w="795960" h="880730">
                  <a:moveTo>
                    <a:pt x="0" y="0"/>
                  </a:moveTo>
                  <a:lnTo>
                    <a:pt x="795959" y="0"/>
                  </a:lnTo>
                  <a:lnTo>
                    <a:pt x="795959" y="880730"/>
                  </a:lnTo>
                  <a:lnTo>
                    <a:pt x="0" y="88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1348032" y="218115"/>
              <a:ext cx="1975567" cy="444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spc="-43">
                  <a:solidFill>
                    <a:srgbClr val="1A0044"/>
                  </a:solidFill>
                  <a:latin typeface="Open Sans"/>
                  <a:ea typeface="Open Sans"/>
                  <a:cs typeface="Open Sans"/>
                  <a:sym typeface="Open Sans"/>
                </a:rPr>
                <a:t>QUORUM</a:t>
              </a:r>
            </a:p>
          </p:txBody>
        </p:sp>
      </p:grpSp>
      <p:sp>
        <p:nvSpPr>
          <p:cNvPr id="31" name="Freeform 31"/>
          <p:cNvSpPr/>
          <p:nvPr/>
        </p:nvSpPr>
        <p:spPr>
          <a:xfrm rot="-5400000">
            <a:off x="7989373" y="-2972116"/>
            <a:ext cx="3216423" cy="3524847"/>
          </a:xfrm>
          <a:custGeom>
            <a:avLst/>
            <a:gdLst/>
            <a:ahLst/>
            <a:cxnLst/>
            <a:rect l="l" t="t" r="r" b="b"/>
            <a:pathLst>
              <a:path w="3216423" h="3524847">
                <a:moveTo>
                  <a:pt x="0" y="0"/>
                </a:moveTo>
                <a:lnTo>
                  <a:pt x="3216423" y="0"/>
                </a:lnTo>
                <a:lnTo>
                  <a:pt x="3216423" y="3524848"/>
                </a:lnTo>
                <a:lnTo>
                  <a:pt x="0" y="35248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7724120" y="6762153"/>
            <a:ext cx="3216423" cy="3524847"/>
          </a:xfrm>
          <a:custGeom>
            <a:avLst/>
            <a:gdLst/>
            <a:ahLst/>
            <a:cxnLst/>
            <a:rect l="l" t="t" r="r" b="b"/>
            <a:pathLst>
              <a:path w="3216423" h="3524847">
                <a:moveTo>
                  <a:pt x="0" y="0"/>
                </a:moveTo>
                <a:lnTo>
                  <a:pt x="3216423" y="0"/>
                </a:lnTo>
                <a:lnTo>
                  <a:pt x="3216423" y="3524847"/>
                </a:lnTo>
                <a:lnTo>
                  <a:pt x="0" y="35248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49593" y="4734451"/>
            <a:ext cx="4044053" cy="3420827"/>
            <a:chOff x="0" y="0"/>
            <a:chExt cx="1065100" cy="900959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065100" cy="900959"/>
            </a:xfrm>
            <a:custGeom>
              <a:avLst/>
              <a:gdLst/>
              <a:ahLst/>
              <a:cxnLst/>
              <a:rect l="l" t="t" r="r" b="b"/>
              <a:pathLst>
                <a:path w="1065100" h="900959">
                  <a:moveTo>
                    <a:pt x="28716" y="0"/>
                  </a:moveTo>
                  <a:lnTo>
                    <a:pt x="1036385" y="0"/>
                  </a:lnTo>
                  <a:cubicBezTo>
                    <a:pt x="1052244" y="0"/>
                    <a:pt x="1065100" y="12857"/>
                    <a:pt x="1065100" y="28716"/>
                  </a:cubicBezTo>
                  <a:lnTo>
                    <a:pt x="1065100" y="872243"/>
                  </a:lnTo>
                  <a:cubicBezTo>
                    <a:pt x="1065100" y="888102"/>
                    <a:pt x="1052244" y="900959"/>
                    <a:pt x="1036385" y="900959"/>
                  </a:cubicBezTo>
                  <a:lnTo>
                    <a:pt x="28716" y="900959"/>
                  </a:lnTo>
                  <a:cubicBezTo>
                    <a:pt x="12857" y="900959"/>
                    <a:pt x="0" y="888102"/>
                    <a:pt x="0" y="872243"/>
                  </a:cubicBezTo>
                  <a:lnTo>
                    <a:pt x="0" y="28716"/>
                  </a:lnTo>
                  <a:cubicBezTo>
                    <a:pt x="0" y="12857"/>
                    <a:pt x="12857" y="0"/>
                    <a:pt x="28716" y="0"/>
                  </a:cubicBezTo>
                  <a:close/>
                </a:path>
              </a:pathLst>
            </a:custGeom>
            <a:solidFill>
              <a:srgbClr val="FE4CB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1065100" cy="1005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4734451"/>
            <a:ext cx="2790166" cy="3420827"/>
            <a:chOff x="0" y="0"/>
            <a:chExt cx="734859" cy="900959"/>
          </a:xfrm>
        </p:grpSpPr>
        <p:sp>
          <p:nvSpPr>
            <p:cNvPr id="6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734859" cy="900959"/>
            </a:xfrm>
            <a:custGeom>
              <a:avLst/>
              <a:gdLst/>
              <a:ahLst/>
              <a:cxnLst/>
              <a:rect l="l" t="t" r="r" b="b"/>
              <a:pathLst>
                <a:path w="734859" h="900959">
                  <a:moveTo>
                    <a:pt x="41621" y="0"/>
                  </a:moveTo>
                  <a:lnTo>
                    <a:pt x="693238" y="0"/>
                  </a:lnTo>
                  <a:cubicBezTo>
                    <a:pt x="704276" y="0"/>
                    <a:pt x="714863" y="4385"/>
                    <a:pt x="722668" y="12190"/>
                  </a:cubicBezTo>
                  <a:cubicBezTo>
                    <a:pt x="730474" y="19996"/>
                    <a:pt x="734859" y="30582"/>
                    <a:pt x="734859" y="41621"/>
                  </a:cubicBezTo>
                  <a:lnTo>
                    <a:pt x="734859" y="859338"/>
                  </a:lnTo>
                  <a:cubicBezTo>
                    <a:pt x="734859" y="882324"/>
                    <a:pt x="716224" y="900959"/>
                    <a:pt x="693238" y="900959"/>
                  </a:cubicBezTo>
                  <a:lnTo>
                    <a:pt x="41621" y="900959"/>
                  </a:lnTo>
                  <a:cubicBezTo>
                    <a:pt x="30582" y="900959"/>
                    <a:pt x="19996" y="896574"/>
                    <a:pt x="12190" y="888768"/>
                  </a:cubicBezTo>
                  <a:cubicBezTo>
                    <a:pt x="4385" y="880963"/>
                    <a:pt x="0" y="870376"/>
                    <a:pt x="0" y="859338"/>
                  </a:cubicBezTo>
                  <a:lnTo>
                    <a:pt x="0" y="41621"/>
                  </a:lnTo>
                  <a:cubicBezTo>
                    <a:pt x="0" y="18634"/>
                    <a:pt x="18634" y="0"/>
                    <a:pt x="41621" y="0"/>
                  </a:cubicBezTo>
                  <a:close/>
                </a:path>
              </a:pathLst>
            </a:custGeom>
            <a:solidFill>
              <a:srgbClr val="9859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734859" cy="1005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472304" y="5029354"/>
            <a:ext cx="727864" cy="727864"/>
            <a:chOff x="0" y="0"/>
            <a:chExt cx="970485" cy="970485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970485" cy="970485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CF6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3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 flipH="1" flipV="1">
              <a:off x="305412" y="305412"/>
              <a:ext cx="359661" cy="359661"/>
            </a:xfrm>
            <a:custGeom>
              <a:avLst/>
              <a:gdLst/>
              <a:ahLst/>
              <a:cxnLst/>
              <a:rect l="l" t="t" r="r" b="b"/>
              <a:pathLst>
                <a:path w="359661" h="359661">
                  <a:moveTo>
                    <a:pt x="359661" y="359661"/>
                  </a:moveTo>
                  <a:lnTo>
                    <a:pt x="0" y="359661"/>
                  </a:lnTo>
                  <a:lnTo>
                    <a:pt x="0" y="0"/>
                  </a:lnTo>
                  <a:lnTo>
                    <a:pt x="359661" y="0"/>
                  </a:lnTo>
                  <a:lnTo>
                    <a:pt x="359661" y="359661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2412200" y="6933724"/>
            <a:ext cx="277798" cy="277798"/>
            <a:chOff x="0" y="0"/>
            <a:chExt cx="370398" cy="370398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370398" cy="370398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CF6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endParaRPr/>
              </a:p>
            </p:txBody>
          </p:sp>
        </p:grpSp>
        <p:sp>
          <p:nvSpPr>
            <p:cNvPr id="17" name="Freeform 17"/>
            <p:cNvSpPr/>
            <p:nvPr/>
          </p:nvSpPr>
          <p:spPr>
            <a:xfrm flipH="1" flipV="1">
              <a:off x="116564" y="116564"/>
              <a:ext cx="137269" cy="137269"/>
            </a:xfrm>
            <a:custGeom>
              <a:avLst/>
              <a:gdLst/>
              <a:ahLst/>
              <a:cxnLst/>
              <a:rect l="l" t="t" r="r" b="b"/>
              <a:pathLst>
                <a:path w="137269" h="137269">
                  <a:moveTo>
                    <a:pt x="137269" y="137269"/>
                  </a:moveTo>
                  <a:lnTo>
                    <a:pt x="0" y="137269"/>
                  </a:lnTo>
                  <a:lnTo>
                    <a:pt x="0" y="0"/>
                  </a:lnTo>
                  <a:lnTo>
                    <a:pt x="137269" y="0"/>
                  </a:lnTo>
                  <a:lnTo>
                    <a:pt x="137269" y="13726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2412200" y="7462925"/>
            <a:ext cx="277798" cy="277798"/>
            <a:chOff x="0" y="0"/>
            <a:chExt cx="370398" cy="370398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370398" cy="370398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CF6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 flipH="1" flipV="1">
              <a:off x="116564" y="116564"/>
              <a:ext cx="137269" cy="137269"/>
            </a:xfrm>
            <a:custGeom>
              <a:avLst/>
              <a:gdLst/>
              <a:ahLst/>
              <a:cxnLst/>
              <a:rect l="l" t="t" r="r" b="b"/>
              <a:pathLst>
                <a:path w="137269" h="137269">
                  <a:moveTo>
                    <a:pt x="137269" y="137269"/>
                  </a:moveTo>
                  <a:lnTo>
                    <a:pt x="0" y="137269"/>
                  </a:lnTo>
                  <a:lnTo>
                    <a:pt x="0" y="0"/>
                  </a:lnTo>
                  <a:lnTo>
                    <a:pt x="137269" y="0"/>
                  </a:lnTo>
                  <a:lnTo>
                    <a:pt x="137269" y="13726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2595654" y="4724654"/>
            <a:ext cx="6429915" cy="3430624"/>
            <a:chOff x="0" y="0"/>
            <a:chExt cx="996162" cy="531494"/>
          </a:xfrm>
        </p:grpSpPr>
        <p:sp>
          <p:nvSpPr>
            <p:cNvPr id="24" name="Freeform 24" descr="a person in a suit is holding two bitcoin their hands"/>
            <p:cNvSpPr/>
            <p:nvPr/>
          </p:nvSpPr>
          <p:spPr>
            <a:xfrm>
              <a:off x="0" y="0"/>
              <a:ext cx="996162" cy="531494"/>
            </a:xfrm>
            <a:prstGeom prst="roundRect">
              <a:avLst>
                <a:gd name="adj" fmla="val 7000"/>
              </a:avLst>
            </a:pr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750651" y="612797"/>
            <a:ext cx="2492699" cy="660547"/>
            <a:chOff x="0" y="0"/>
            <a:chExt cx="3323599" cy="88073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95960" cy="880730"/>
            </a:xfrm>
            <a:custGeom>
              <a:avLst/>
              <a:gdLst/>
              <a:ahLst/>
              <a:cxnLst/>
              <a:rect l="l" t="t" r="r" b="b"/>
              <a:pathLst>
                <a:path w="795960" h="880730">
                  <a:moveTo>
                    <a:pt x="0" y="0"/>
                  </a:moveTo>
                  <a:lnTo>
                    <a:pt x="795960" y="0"/>
                  </a:lnTo>
                  <a:lnTo>
                    <a:pt x="795960" y="880730"/>
                  </a:lnTo>
                  <a:lnTo>
                    <a:pt x="0" y="88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205026" y="0"/>
              <a:ext cx="795960" cy="880730"/>
            </a:xfrm>
            <a:custGeom>
              <a:avLst/>
              <a:gdLst/>
              <a:ahLst/>
              <a:cxnLst/>
              <a:rect l="l" t="t" r="r" b="b"/>
              <a:pathLst>
                <a:path w="795960" h="880730">
                  <a:moveTo>
                    <a:pt x="0" y="0"/>
                  </a:moveTo>
                  <a:lnTo>
                    <a:pt x="795959" y="0"/>
                  </a:lnTo>
                  <a:lnTo>
                    <a:pt x="795959" y="880730"/>
                  </a:lnTo>
                  <a:lnTo>
                    <a:pt x="0" y="88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1348032" y="218115"/>
              <a:ext cx="1975567" cy="444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spc="-43">
                  <a:solidFill>
                    <a:srgbClr val="1A0044"/>
                  </a:solidFill>
                  <a:latin typeface="Open Sans"/>
                  <a:ea typeface="Open Sans"/>
                  <a:cs typeface="Open Sans"/>
                  <a:sym typeface="Open Sans"/>
                </a:rPr>
                <a:t>QUORUM</a:t>
              </a:r>
            </a:p>
          </p:txBody>
        </p:sp>
      </p:grpSp>
      <p:sp>
        <p:nvSpPr>
          <p:cNvPr id="29" name="Freeform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47128" y="9566375"/>
            <a:ext cx="2551657" cy="2754825"/>
          </a:xfrm>
          <a:custGeom>
            <a:avLst/>
            <a:gdLst/>
            <a:ahLst/>
            <a:cxnLst/>
            <a:rect l="l" t="t" r="r" b="b"/>
            <a:pathLst>
              <a:path w="2551657" h="2754825">
                <a:moveTo>
                  <a:pt x="0" y="0"/>
                </a:moveTo>
                <a:lnTo>
                  <a:pt x="2551656" y="0"/>
                </a:lnTo>
                <a:lnTo>
                  <a:pt x="2551656" y="2754825"/>
                </a:lnTo>
                <a:lnTo>
                  <a:pt x="0" y="2754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6367529" y="-1948915"/>
            <a:ext cx="2551657" cy="2754825"/>
          </a:xfrm>
          <a:custGeom>
            <a:avLst/>
            <a:gdLst/>
            <a:ahLst/>
            <a:cxnLst/>
            <a:rect l="l" t="t" r="r" b="b"/>
            <a:pathLst>
              <a:path w="2551657" h="2754825">
                <a:moveTo>
                  <a:pt x="0" y="2754825"/>
                </a:moveTo>
                <a:lnTo>
                  <a:pt x="2551657" y="2754825"/>
                </a:lnTo>
                <a:lnTo>
                  <a:pt x="2551657" y="0"/>
                </a:lnTo>
                <a:lnTo>
                  <a:pt x="0" y="0"/>
                </a:lnTo>
                <a:lnTo>
                  <a:pt x="0" y="275482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595654" y="3017520"/>
            <a:ext cx="12895780" cy="1828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A0044"/>
                </a:solidFill>
                <a:latin typeface="Open Sans"/>
                <a:ea typeface="Open Sans"/>
                <a:cs typeface="Open Sans"/>
                <a:sym typeface="Open Sans"/>
              </a:rPr>
              <a:t>WHAT IT COST TO BUILD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40251" y="5660641"/>
            <a:ext cx="3051183" cy="77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PreProd is ~1,453,000 events. Preview's ~151,000 sync in minutes.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440251" y="5078984"/>
            <a:ext cx="3206337" cy="3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PREVIEW, NOT PREPROD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418611" y="5116742"/>
            <a:ext cx="1440640" cy="542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14K/s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44107" y="5830122"/>
            <a:ext cx="2386948" cy="1596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Wallet sync ran at ~80 events/s on the SDK's defaults. batchSize 5,000 fixed it.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944467" y="6897220"/>
            <a:ext cx="2064561" cy="3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 CIRCUITS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944467" y="7426421"/>
            <a:ext cx="2702120" cy="3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 ZK 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916548" y="2965463"/>
            <a:ext cx="6768957" cy="5434735"/>
            <a:chOff x="0" y="0"/>
            <a:chExt cx="7467600" cy="59956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2434265" y="5210810"/>
              <a:ext cx="2596530" cy="786130"/>
            </a:xfrm>
            <a:custGeom>
              <a:avLst/>
              <a:gdLst/>
              <a:ahLst/>
              <a:cxnLst/>
              <a:rect l="l" t="t" r="r" b="b"/>
              <a:pathLst>
                <a:path w="2596530" h="7861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2132097" y="2519793"/>
            <a:ext cx="6619888" cy="200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1A0044"/>
                </a:solidFill>
                <a:latin typeface="Open Sans"/>
                <a:ea typeface="Open Sans"/>
                <a:cs typeface="Open Sans"/>
                <a:sym typeface="Open Sans"/>
              </a:rPr>
              <a:t>LIVE ON MIDNIGHT PREVIEW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32097" y="5453185"/>
            <a:ext cx="1886754" cy="542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586223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32096" y="6731336"/>
            <a:ext cx="5548852" cy="1186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Contract 08b5b8b1…fe0f51da, confirmed through the Preview indexer rather than our own bridge. Reproduce both refusals with node scripts/midnight-smoke.mjs.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32097" y="6077846"/>
            <a:ext cx="1886754" cy="509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block · write-off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206995" y="972345"/>
            <a:ext cx="1817084" cy="2163815"/>
            <a:chOff x="0" y="0"/>
            <a:chExt cx="478574" cy="569894"/>
          </a:xfrm>
        </p:grpSpPr>
        <p:sp>
          <p:nvSpPr>
            <p:cNvPr id="12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478574" cy="569894"/>
            </a:xfrm>
            <a:custGeom>
              <a:avLst/>
              <a:gdLst/>
              <a:ahLst/>
              <a:cxnLst/>
              <a:rect l="l" t="t" r="r" b="b"/>
              <a:pathLst>
                <a:path w="478574" h="569894">
                  <a:moveTo>
                    <a:pt x="63909" y="0"/>
                  </a:moveTo>
                  <a:lnTo>
                    <a:pt x="414664" y="0"/>
                  </a:lnTo>
                  <a:cubicBezTo>
                    <a:pt x="449960" y="0"/>
                    <a:pt x="478574" y="28613"/>
                    <a:pt x="478574" y="63909"/>
                  </a:cubicBezTo>
                  <a:lnTo>
                    <a:pt x="478574" y="505984"/>
                  </a:lnTo>
                  <a:cubicBezTo>
                    <a:pt x="478574" y="541280"/>
                    <a:pt x="449960" y="569894"/>
                    <a:pt x="414664" y="569894"/>
                  </a:cubicBezTo>
                  <a:lnTo>
                    <a:pt x="63909" y="569894"/>
                  </a:lnTo>
                  <a:cubicBezTo>
                    <a:pt x="28613" y="569894"/>
                    <a:pt x="0" y="541280"/>
                    <a:pt x="0" y="505984"/>
                  </a:cubicBezTo>
                  <a:lnTo>
                    <a:pt x="0" y="63909"/>
                  </a:lnTo>
                  <a:cubicBezTo>
                    <a:pt x="0" y="28613"/>
                    <a:pt x="28613" y="0"/>
                    <a:pt x="63909" y="0"/>
                  </a:cubicBezTo>
                  <a:close/>
                </a:path>
              </a:pathLst>
            </a:custGeom>
            <a:solidFill>
              <a:srgbClr val="FE4CB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478574" cy="674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823753" y="1242937"/>
            <a:ext cx="583569" cy="583569"/>
            <a:chOff x="0" y="0"/>
            <a:chExt cx="778092" cy="778092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778092" cy="77809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CF6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39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 flipH="1" flipV="1">
              <a:off x="244866" y="244866"/>
              <a:ext cx="288360" cy="288360"/>
            </a:xfrm>
            <a:custGeom>
              <a:avLst/>
              <a:gdLst/>
              <a:ahLst/>
              <a:cxnLst/>
              <a:rect l="l" t="t" r="r" b="b"/>
              <a:pathLst>
                <a:path w="288360" h="288360">
                  <a:moveTo>
                    <a:pt x="288360" y="288360"/>
                  </a:moveTo>
                  <a:lnTo>
                    <a:pt x="0" y="288360"/>
                  </a:lnTo>
                  <a:lnTo>
                    <a:pt x="0" y="0"/>
                  </a:lnTo>
                  <a:lnTo>
                    <a:pt x="288360" y="0"/>
                  </a:lnTo>
                  <a:lnTo>
                    <a:pt x="288360" y="28836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3273452" y="2139145"/>
            <a:ext cx="1684170" cy="628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VERIFIED TWICE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50651" y="612797"/>
            <a:ext cx="2492699" cy="660547"/>
            <a:chOff x="0" y="0"/>
            <a:chExt cx="3323599" cy="88073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95960" cy="880730"/>
            </a:xfrm>
            <a:custGeom>
              <a:avLst/>
              <a:gdLst/>
              <a:ahLst/>
              <a:cxnLst/>
              <a:rect l="l" t="t" r="r" b="b"/>
              <a:pathLst>
                <a:path w="795960" h="880730">
                  <a:moveTo>
                    <a:pt x="0" y="0"/>
                  </a:moveTo>
                  <a:lnTo>
                    <a:pt x="795960" y="0"/>
                  </a:lnTo>
                  <a:lnTo>
                    <a:pt x="795960" y="880730"/>
                  </a:lnTo>
                  <a:lnTo>
                    <a:pt x="0" y="88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205026" y="0"/>
              <a:ext cx="795960" cy="880730"/>
            </a:xfrm>
            <a:custGeom>
              <a:avLst/>
              <a:gdLst/>
              <a:ahLst/>
              <a:cxnLst/>
              <a:rect l="l" t="t" r="r" b="b"/>
              <a:pathLst>
                <a:path w="795960" h="880730">
                  <a:moveTo>
                    <a:pt x="0" y="0"/>
                  </a:moveTo>
                  <a:lnTo>
                    <a:pt x="795959" y="0"/>
                  </a:lnTo>
                  <a:lnTo>
                    <a:pt x="795959" y="880730"/>
                  </a:lnTo>
                  <a:lnTo>
                    <a:pt x="0" y="88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348032" y="218115"/>
              <a:ext cx="1975567" cy="444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spc="-43">
                  <a:solidFill>
                    <a:srgbClr val="1A0044"/>
                  </a:solidFill>
                  <a:latin typeface="Open Sans"/>
                  <a:ea typeface="Open Sans"/>
                  <a:cs typeface="Open Sans"/>
                  <a:sym typeface="Open Sans"/>
                </a:rPr>
                <a:t>QUORUM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17724120" y="6762153"/>
            <a:ext cx="3216423" cy="3524847"/>
          </a:xfrm>
          <a:custGeom>
            <a:avLst/>
            <a:gdLst/>
            <a:ahLst/>
            <a:cxnLst/>
            <a:rect l="l" t="t" r="r" b="b"/>
            <a:pathLst>
              <a:path w="3216423" h="3524847">
                <a:moveTo>
                  <a:pt x="0" y="0"/>
                </a:moveTo>
                <a:lnTo>
                  <a:pt x="3216423" y="0"/>
                </a:lnTo>
                <a:lnTo>
                  <a:pt x="3216423" y="3524847"/>
                </a:lnTo>
                <a:lnTo>
                  <a:pt x="0" y="35248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-5400000">
            <a:off x="7989373" y="-2972116"/>
            <a:ext cx="3216423" cy="3524847"/>
          </a:xfrm>
          <a:custGeom>
            <a:avLst/>
            <a:gdLst/>
            <a:ahLst/>
            <a:cxnLst/>
            <a:rect l="l" t="t" r="r" b="b"/>
            <a:pathLst>
              <a:path w="3216423" h="3524847">
                <a:moveTo>
                  <a:pt x="0" y="0"/>
                </a:moveTo>
                <a:lnTo>
                  <a:pt x="3216423" y="0"/>
                </a:lnTo>
                <a:lnTo>
                  <a:pt x="3216423" y="3524848"/>
                </a:lnTo>
                <a:lnTo>
                  <a:pt x="0" y="35248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-247128" y="9566375"/>
            <a:ext cx="2551657" cy="2754825"/>
          </a:xfrm>
          <a:custGeom>
            <a:avLst/>
            <a:gdLst/>
            <a:ahLst/>
            <a:cxnLst/>
            <a:rect l="l" t="t" r="r" b="b"/>
            <a:pathLst>
              <a:path w="2551657" h="2754825">
                <a:moveTo>
                  <a:pt x="0" y="0"/>
                </a:moveTo>
                <a:lnTo>
                  <a:pt x="2551656" y="0"/>
                </a:lnTo>
                <a:lnTo>
                  <a:pt x="2551656" y="2754825"/>
                </a:lnTo>
                <a:lnTo>
                  <a:pt x="0" y="2754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40489" y="3566160"/>
            <a:ext cx="3813048" cy="1060704"/>
            <a:chOff x="0" y="0"/>
            <a:chExt cx="1404228" cy="848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04228" cy="848593"/>
            </a:xfrm>
            <a:prstGeom prst="roundRect">
              <a:avLst>
                <a:gd name="adj" fmla="val 7000"/>
              </a:avLst>
            </a:pr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915242" y="2817651"/>
            <a:ext cx="9730881" cy="202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80"/>
              </a:lnSpc>
            </a:pPr>
            <a:r>
              <a:rPr lang="en-US" sz="13400">
                <a:solidFill>
                  <a:srgbClr val="131313"/>
                </a:solidFill>
                <a:latin typeface="Open Sans"/>
                <a:ea typeface="Open Sans"/>
                <a:cs typeface="Open Sans"/>
                <a:sym typeface="Open Sans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00065" y="5651343"/>
            <a:ext cx="8257623" cy="202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97"/>
              </a:lnSpc>
            </a:pPr>
            <a:r>
              <a:rPr lang="en-US" sz="13414">
                <a:solidFill>
                  <a:srgbClr val="131313"/>
                </a:solidFill>
                <a:latin typeface="Open Sans"/>
                <a:ea typeface="Open Sans"/>
                <a:cs typeface="Open Sans"/>
                <a:sym typeface="Open Sans"/>
              </a:rPr>
              <a:t>SO MUCH!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15242" y="5677071"/>
            <a:ext cx="3923573" cy="77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Quorum · Team Logarithm. All data is synthetic, and the limits are written down in the README.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915242" y="6995602"/>
            <a:ext cx="6035040" cy="560010"/>
            <a:chOff x="0" y="0"/>
            <a:chExt cx="1033369" cy="147492"/>
          </a:xfrm>
        </p:grpSpPr>
        <p:sp>
          <p:nvSpPr>
            <p:cNvPr id="8" name="Freeform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033369" cy="147492"/>
            </a:xfrm>
            <a:custGeom>
              <a:avLst/>
              <a:gdLst/>
              <a:ahLst/>
              <a:cxnLst/>
              <a:rect l="l" t="t" r="r" b="b"/>
              <a:pathLst>
                <a:path w="1033369" h="147492">
                  <a:moveTo>
                    <a:pt x="73746" y="0"/>
                  </a:moveTo>
                  <a:lnTo>
                    <a:pt x="959623" y="0"/>
                  </a:lnTo>
                  <a:cubicBezTo>
                    <a:pt x="1000352" y="0"/>
                    <a:pt x="1033369" y="33017"/>
                    <a:pt x="1033369" y="73746"/>
                  </a:cubicBezTo>
                  <a:lnTo>
                    <a:pt x="1033369" y="73746"/>
                  </a:lnTo>
                  <a:cubicBezTo>
                    <a:pt x="1033369" y="114475"/>
                    <a:pt x="1000352" y="147492"/>
                    <a:pt x="959623" y="147492"/>
                  </a:cubicBezTo>
                  <a:lnTo>
                    <a:pt x="73746" y="147492"/>
                  </a:lnTo>
                  <a:cubicBezTo>
                    <a:pt x="33017" y="147492"/>
                    <a:pt x="0" y="114475"/>
                    <a:pt x="0" y="73746"/>
                  </a:cubicBezTo>
                  <a:lnTo>
                    <a:pt x="0" y="73746"/>
                  </a:lnTo>
                  <a:cubicBezTo>
                    <a:pt x="0" y="33017"/>
                    <a:pt x="33017" y="0"/>
                    <a:pt x="73746" y="0"/>
                  </a:cubicBezTo>
                  <a:close/>
                </a:path>
              </a:pathLst>
            </a:custGeom>
            <a:solidFill>
              <a:srgbClr val="9859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033369" cy="137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github.com/ripWr3ncH/BlockChain-Devpost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50651" y="612797"/>
            <a:ext cx="2492699" cy="660547"/>
            <a:chOff x="0" y="0"/>
            <a:chExt cx="3323599" cy="88073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95960" cy="880730"/>
            </a:xfrm>
            <a:custGeom>
              <a:avLst/>
              <a:gdLst/>
              <a:ahLst/>
              <a:cxnLst/>
              <a:rect l="l" t="t" r="r" b="b"/>
              <a:pathLst>
                <a:path w="795960" h="880730">
                  <a:moveTo>
                    <a:pt x="0" y="0"/>
                  </a:moveTo>
                  <a:lnTo>
                    <a:pt x="795960" y="0"/>
                  </a:lnTo>
                  <a:lnTo>
                    <a:pt x="795960" y="880730"/>
                  </a:lnTo>
                  <a:lnTo>
                    <a:pt x="0" y="88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205026" y="0"/>
              <a:ext cx="795960" cy="880730"/>
            </a:xfrm>
            <a:custGeom>
              <a:avLst/>
              <a:gdLst/>
              <a:ahLst/>
              <a:cxnLst/>
              <a:rect l="l" t="t" r="r" b="b"/>
              <a:pathLst>
                <a:path w="795960" h="880730">
                  <a:moveTo>
                    <a:pt x="0" y="0"/>
                  </a:moveTo>
                  <a:lnTo>
                    <a:pt x="795959" y="0"/>
                  </a:lnTo>
                  <a:lnTo>
                    <a:pt x="795959" y="880730"/>
                  </a:lnTo>
                  <a:lnTo>
                    <a:pt x="0" y="88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1348032" y="218115"/>
              <a:ext cx="1975567" cy="444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spc="-43">
                  <a:solidFill>
                    <a:srgbClr val="1A0044"/>
                  </a:solidFill>
                  <a:latin typeface="Open Sans"/>
                  <a:ea typeface="Open Sans"/>
                  <a:cs typeface="Open Sans"/>
                  <a:sym typeface="Open Sans"/>
                </a:rPr>
                <a:t>QUORUM</a:t>
              </a:r>
            </a:p>
          </p:txBody>
        </p:sp>
      </p:grpSp>
      <p:sp>
        <p:nvSpPr>
          <p:cNvPr id="14" name="Freeform 14"/>
          <p:cNvSpPr/>
          <p:nvPr/>
        </p:nvSpPr>
        <p:spPr>
          <a:xfrm flipV="1">
            <a:off x="16367529" y="-1948915"/>
            <a:ext cx="2551657" cy="2754825"/>
          </a:xfrm>
          <a:custGeom>
            <a:avLst/>
            <a:gdLst/>
            <a:ahLst/>
            <a:cxnLst/>
            <a:rect l="l" t="t" r="r" b="b"/>
            <a:pathLst>
              <a:path w="2551657" h="2754825">
                <a:moveTo>
                  <a:pt x="0" y="2754825"/>
                </a:moveTo>
                <a:lnTo>
                  <a:pt x="2551657" y="2754825"/>
                </a:lnTo>
                <a:lnTo>
                  <a:pt x="2551657" y="0"/>
                </a:lnTo>
                <a:lnTo>
                  <a:pt x="0" y="0"/>
                </a:lnTo>
                <a:lnTo>
                  <a:pt x="0" y="275482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247128" y="9566375"/>
            <a:ext cx="2551657" cy="2754825"/>
          </a:xfrm>
          <a:custGeom>
            <a:avLst/>
            <a:gdLst/>
            <a:ahLst/>
            <a:cxnLst/>
            <a:rect l="l" t="t" r="r" b="b"/>
            <a:pathLst>
              <a:path w="2551657" h="2754825">
                <a:moveTo>
                  <a:pt x="0" y="0"/>
                </a:moveTo>
                <a:lnTo>
                  <a:pt x="2551656" y="0"/>
                </a:lnTo>
                <a:lnTo>
                  <a:pt x="2551656" y="2754825"/>
                </a:lnTo>
                <a:lnTo>
                  <a:pt x="0" y="2754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472</Words>
  <Application>Microsoft Office PowerPoint</Application>
  <PresentationFormat>Custom</PresentationFormat>
  <Paragraphs>66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Open Sans</vt:lpstr>
      <vt:lpstr>Open Sans Bold</vt:lpstr>
      <vt:lpstr>Garet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Quorum - a board vote that proves itself</dc:title>
  <dc:creator>Team Logarithm</dc:creator>
  <cp:lastModifiedBy>Auvro Islam</cp:lastModifiedBy>
  <cp:revision>2</cp:revision>
  <dcterms:created xsi:type="dcterms:W3CDTF">2006-08-16T00:00:00Z</dcterms:created>
  <dcterms:modified xsi:type="dcterms:W3CDTF">2026-08-26T18:14:28Z</dcterms:modified>
  <dc:identifier>DAHTaRt8GRw</dc:identifier>
</cp:coreProperties>
</file>